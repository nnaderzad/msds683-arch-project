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~10 min total. Open fast — assume the audience saw the midterm. One line: "We built a</a:t>
            </a:r>
          </a:p>
          <a:p>
            <a:r>
              <a:t>bronze-&gt;silver-&gt;gold pipeline on GCP that turns three live data feeds into one model-ready</a:t>
            </a:r>
          </a:p>
          <a:p>
            <a:r>
              <a:t>table and a consumable app." Then move straight to the recap. [Fill in team names + who</a:t>
            </a:r>
          </a:p>
          <a:p>
            <a:r>
              <a:t>presents which section.]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Fast. Don't re-explain the whole domain. Land the thesis sentence clearly — every later</a:t>
            </a:r>
          </a:p>
          <a:p>
            <a:r>
              <a:t>slide ties back to it. The "early enough to act" framing motivates the forecast +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The grader gives 5 pts for clearly explaining schema change OR no-change. Be explicit:</a:t>
            </a:r>
          </a:p>
          <a:p>
            <a:r>
              <a:t>the STAR is unchanged; we enriched it. Mention the forecast is materialized into gold (a real</a:t>
            </a:r>
          </a:p>
          <a:p>
            <a:r>
              <a:t>table), which sets up the gold + end-product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~20s. This is the map you point back to at every step. Say: "data flows left to right; at each</a:t>
            </a:r>
          </a:p>
          <a:p>
            <a:r>
              <a:t>step it gets cleaner and more joined, and it ends in something a non-technical user can read."</a:t>
            </a:r>
          </a:p>
          <a:p>
            <a:r>
              <a:t>Name the hero show now (Everclear) so the next four slides have a single thread. Backup hero</a:t>
            </a:r>
          </a:p>
          <a:p>
            <a:r>
              <a:t>show if Everclear's coverage shifts: The Wallflowers (nationwide). See hero-shows.md.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~50s. Open an actual raw file live if you can (gsutil cat | head, or the GCS console) — showing</a:t>
            </a:r>
          </a:p>
          <a:p>
            <a:r>
              <a:t>real JSON sells 'this is real data, not a fixture.' One business sentence per source; don't read</a:t>
            </a:r>
          </a:p>
          <a:p>
            <a:r>
              <a:t>field lists. The point: three different lenses on demand (price, local interest, global reach).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~70s. This is where 'transformations defined by business logic' is earned. Emphasize: DMA is the</a:t>
            </a:r>
          </a:p>
          <a:p>
            <a:r>
              <a:t>shared geography both sources resolve to — that's why the join is possible at all. The Trends</a:t>
            </a:r>
          </a:p>
          <a:p>
            <a:r>
              <a:t>0–100 caveat is a credibility point: it shows you understand the data, not just plumbed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~50s. The rubric explicitly requires &gt;=1 transformation DEMOED — this is that moment. Rehearse so</a:t>
            </a:r>
          </a:p>
          <a:p>
            <a:r>
              <a:t>it returns in seconds (or have a pre-warmed result ready). If dbt is slow live, run the equivalent</a:t>
            </a:r>
          </a:p>
          <a:p>
            <a:r>
              <a:t>BigQuery LEFT JOIN inline. Pick a hero show whose row is fully populated (see hero-shows.md).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~60s. Show the real hero-show row in BigQuery. Be honest about the model: with ~2 weeks of</a:t>
            </a:r>
          </a:p>
          <a:p>
            <a:r>
              <a:t>snapshots you can't do per-show time-series, so you pool cross-sectionally — that's a deliberate,</a:t>
            </a:r>
          </a:p>
          <a:p>
            <a:r>
              <a:t>defensible choice, not a limitation you're hiding. Forecast is a TABLE (precomputed), so the app</a:t>
            </a:r>
          </a:p>
          <a:p>
            <a:r>
              <a:t>never runs a model at request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~20s. Optional — drop if you're tight on time. But it's a cheap credibility win and sets up the</a:t>
            </a:r>
          </a:p>
          <a:p>
            <a:r>
              <a:t>tech-stack slide. One line: 'the pipeline refuses to publish bad data.'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~90s — this is the 10-pt moment; spend real time here. The grader wants a consumable output a</a:t>
            </a:r>
          </a:p>
          <a:p>
            <a:r>
              <a:t>non-technical person gets value from. Drive the live app on a frozen hero show. CRITICAL: have a</a:t>
            </a:r>
          </a:p>
          <a:p>
            <a:r>
              <a:t>recorded screen capture / screenshots in assets/ as a fallback if the live demo fails. If the app</a:t>
            </a:r>
          </a:p>
          <a:p>
            <a:r>
              <a:t>isn't ready, the Looker Studio fallback (on gold + forecast) still satisfies the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1–2 min. The instructor WILL ask 'why this tool, what did you consider' for one component. The</a:t>
            </a:r>
          </a:p>
          <a:p>
            <a:r>
              <a:t>most likely probe is dbt — be ready: ELT pushes joins/aggregations into BigQuery so it scales as</a:t>
            </a:r>
          </a:p>
          <a:p>
            <a:r>
              <a:t>snapshots grow; one place for SQL, incremental builds, tests, lineage; vs. in-memory pandas that</a:t>
            </a:r>
          </a:p>
          <a:p>
            <a:r>
              <a:t>doesn't scale. Have a one-line alternative-considered for every box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1–2 min. The rubric wants realistic estimates WITH stated assumptions — so say the assumptions out</a:t>
            </a:r>
          </a:p>
          <a:p>
            <a:r>
              <a:t>loud (data volume, query frequency, scale-to-zero). REPLACE these order-of-magnitude numbers with</a:t>
            </a:r>
          </a:p>
          <a:p>
            <a:r>
              <a:t>real billing-console figures before presenting. Tie cost to the drivers: storage grows with the</a:t>
            </a:r>
          </a:p>
          <a:p>
            <a:r>
              <a:t>6×/day TM sweep; query cost grows with app/query 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strong + claim the bonus. Orchestration was made optional, but you built it (Cloud Run</a:t>
            </a:r>
          </a:p>
          <a:p>
            <a:r>
              <a:t>gold-refresh). The assignment says if you already built orchestration, talk to the instructor for</a:t>
            </a:r>
          </a:p>
          <a:p>
            <a:r>
              <a:t>bonus points — so explicitly flag it here. End on the thesis -&gt; product loop being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Event-Demand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9D6E5"/>
                </a:solidFill>
                <a:latin typeface="Arial"/>
              </a:rPr>
              <a:t>A medallion data architecture for live-music demand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C4D8"/>
                </a:solidFill>
                <a:latin typeface="Arial"/>
              </a:rPr>
              <a:t>MSDS683 · Final Presentation &amp; Demo · [team names]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C4D8"/>
                </a:solidFill>
                <a:latin typeface="Arial"/>
              </a:rPr>
              <a:t>QUICK RECAP · 30S · (ASSUMED KNOWN)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The question: will this show pop — early enough to act?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Domain: Bay-Area / nationwide live-music events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Thesis: demand is high when a LOCALLY-popular artist plays a RELATIVELY SMALL venue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Goal: help a buyer / seller / analyst anticipate sell-out + price pressure, early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Assume you saw the midterm — here's only what's new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C4D8"/>
                </a:solidFill>
                <a:latin typeface="Arial"/>
              </a:rPr>
              <a:t>SCHEMA — WHAT CHANGED · 30S · 5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Core schema unchanged — we added signal + a forecast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Core schema is the SAME as the midterm: silver fact-constellation -&gt; gold star (fact_event_demand). Say so plainly — the rubric rewards explaining 'no change' too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Added since midterm: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fact_trends_daily — daily-trajectory fact (1.58M rows) + 250-artist roster retarget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forecast_event_price — model precomputed into gold (deterministic, no model-at-request)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YouTube popularity signal (global artist reach)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Why: deterministic / re-runnable gold; richer geo + time signal for the demand thesis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C4D8"/>
                </a:solidFill>
                <a:latin typeface="Arial"/>
              </a:rPr>
              <a:t>PIPELINE -&gt; END PRODUCT  ·  ~5 MIN  ·  the core (25 pts)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One real path: raw JSON -&gt; warehouse star -&gt; a chart a buyer reads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014057" cy="50292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9424"/>
            <a:ext cx="2014057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 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2014057" cy="1783080"/>
          </a:xfrm>
          <a:prstGeom prst="rect">
            <a:avLst/>
          </a:prstGeom>
          <a:solidFill>
            <a:srgbClr val="F4F6F9"/>
          </a:solidFill>
          <a:ln w="127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922617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62B"/>
                </a:solidFill>
                <a:latin typeface="Arial"/>
              </a:rPr>
              <a:t>Ticketmaster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62B"/>
                </a:solidFill>
                <a:latin typeface="Arial"/>
              </a:rPr>
              <a:t>Google Trends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62B"/>
                </a:solidFill>
                <a:latin typeface="Arial"/>
              </a:rPr>
              <a:t>YouTube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80985" y="3227832"/>
            <a:ext cx="219456" cy="219456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18729" y="2194560"/>
            <a:ext cx="2014057" cy="502920"/>
          </a:xfrm>
          <a:prstGeom prst="rect">
            <a:avLst/>
          </a:prstGeom>
          <a:solidFill>
            <a:srgbClr val="A9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8729" y="2249424"/>
            <a:ext cx="2014057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BRONZE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8729" y="2697480"/>
            <a:ext cx="2014057" cy="1783080"/>
          </a:xfrm>
          <a:prstGeom prst="rect">
            <a:avLst/>
          </a:prstGeom>
          <a:solidFill>
            <a:srgbClr val="F4F6F9"/>
          </a:solidFill>
          <a:ln w="12700">
            <a:solidFill>
              <a:srgbClr val="A9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4449" y="2834640"/>
            <a:ext cx="1922617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62B"/>
                </a:solidFill>
                <a:latin typeface="Arial"/>
              </a:rPr>
              <a:t>GCS raw JSON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62B"/>
                </a:solidFill>
                <a:latin typeface="Arial"/>
              </a:rPr>
              <a:t>dt-partitioned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62B"/>
                </a:solidFill>
                <a:latin typeface="Arial"/>
              </a:rPr>
              <a:t>append-only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51074" y="3227832"/>
            <a:ext cx="219456" cy="219456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8818" y="2194560"/>
            <a:ext cx="2014057" cy="502920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8818" y="2249424"/>
            <a:ext cx="2014057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SILVER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818" y="2697480"/>
            <a:ext cx="2014057" cy="1783080"/>
          </a:xfrm>
          <a:prstGeom prst="rect">
            <a:avLst/>
          </a:prstGeom>
          <a:solidFill>
            <a:srgbClr val="F4F6F9"/>
          </a:solidFill>
          <a:ln w="1270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4538" y="2834640"/>
            <a:ext cx="1922617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62B"/>
                </a:solidFill>
                <a:latin typeface="Arial"/>
              </a:rPr>
              <a:t>BQ fact constellation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62B"/>
                </a:solidFill>
                <a:latin typeface="Arial"/>
              </a:rPr>
              <a:t>+ conformed dims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21164" y="3227832"/>
            <a:ext cx="219456" cy="219456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58908" y="2194560"/>
            <a:ext cx="2014057" cy="502920"/>
          </a:xfrm>
          <a:prstGeom prst="rect">
            <a:avLst/>
          </a:prstGeom>
          <a:solidFill>
            <a:srgbClr val="D2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58908" y="2249424"/>
            <a:ext cx="2014057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58908" y="2697480"/>
            <a:ext cx="2014057" cy="1783080"/>
          </a:xfrm>
          <a:prstGeom prst="rect">
            <a:avLst/>
          </a:prstGeom>
          <a:solidFill>
            <a:srgbClr val="F4F6F9"/>
          </a:solidFill>
          <a:ln w="12700">
            <a:solidFill>
              <a:srgbClr val="D2A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4628" y="2834640"/>
            <a:ext cx="1922617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62B"/>
                </a:solidFill>
                <a:latin typeface="Arial"/>
              </a:rPr>
              <a:t>fact_event_demand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62B"/>
                </a:solidFill>
                <a:latin typeface="Arial"/>
              </a:rPr>
              <a:t>+ forecast_event_price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91253" y="3227832"/>
            <a:ext cx="219456" cy="219456"/>
          </a:xfrm>
          <a:prstGeom prst="rightArrow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28997" y="2194560"/>
            <a:ext cx="2014057" cy="502920"/>
          </a:xfrm>
          <a:prstGeom prst="rect">
            <a:avLst/>
          </a:prstGeom>
          <a:solidFill>
            <a:srgbClr val="3F9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28997" y="2249424"/>
            <a:ext cx="2014057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LIVE APP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8997" y="2697480"/>
            <a:ext cx="2014057" cy="1783080"/>
          </a:xfrm>
          <a:prstGeom prst="rect">
            <a:avLst/>
          </a:prstGeom>
          <a:solidFill>
            <a:srgbClr val="F4F6F9"/>
          </a:solidFill>
          <a:ln w="12700">
            <a:solidFill>
              <a:srgbClr val="3F9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717" y="2834640"/>
            <a:ext cx="1922617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62B"/>
                </a:solidFill>
                <a:latin typeface="Arial"/>
              </a:rPr>
              <a:t>FastAPI + React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62B"/>
                </a:solidFill>
                <a:latin typeface="Arial"/>
              </a:rPr>
              <a:t>price + forecast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62B"/>
                </a:solidFill>
                <a:latin typeface="Arial"/>
              </a:rPr>
              <a:t>local interest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92040"/>
            <a:ext cx="11094415" cy="1280160"/>
          </a:xfrm>
          <a:prstGeom prst="roundRect">
            <a:avLst/>
          </a:prstGeom>
          <a:solidFill>
            <a:srgbClr val="ECF3F7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029200"/>
            <a:ext cx="106372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62B"/>
                </a:solidFill>
                <a:latin typeface="Arial"/>
              </a:rPr>
              <a:t>We follow ONE hero show the whole way: </a:t>
            </a:r>
            <a:r>
              <a:rPr sz="1600" b="1">
                <a:solidFill>
                  <a:srgbClr val="2E86AB"/>
                </a:solidFill>
                <a:latin typeface="Arial"/>
              </a:rPr>
              <a:t>Everclear @ The Independent (SF).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6B"/>
                </a:solidFill>
                <a:latin typeface="Arial"/>
              </a:rPr>
              <a:t>Recognizable act, small ~500-cap room — the thesis in one show: a locally-known artist in a relatively small venue. 16 priced snapshots, real $136–236 band.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C4D8"/>
                </a:solidFill>
                <a:latin typeface="Arial"/>
              </a:rPr>
              <a:t>BRONZE · ~50S · 15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Raw, untouched — exactly what the APIs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Ticketmaster JSON — id, name, dates.start, _embedded.venues, priceRanges[].min/max/currency  (6 captures/day per state, append-only)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= which shows exist, where, when, at what face price (the spine + the price we predict)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Google Trends JSON — geoCode (DMA), value 0–100, query = artist, date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= how big the artist is IN THIS METRO (geographic distribution of interest)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YouTube JSON — subscriberCount, viewCount, videoCount per artist/day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= how big the artist is OVERALL (global popularity magnitude)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All land in GCS, dt-partitioned, append-only — a replayable audit log (~7.5 GB total)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C4D8"/>
                </a:solidFill>
                <a:latin typeface="Arial"/>
              </a:rPr>
              <a:t>SILVER · ~70S · 15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Clean + conform into a fact constellation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fact_ticketmaster (event × snapshot_date) — parse priceRanges -&gt; price_min/max; derive days_to_show; one row per (event, day); deterministic surrogate keys  [dbt model]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fact_trends (artist × DMA × day) — interest 0–100, per-pull normalized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Caveat aloud: comparable across time for one (artist, metro) — NEVER across artists/metros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fact_youtube (artist × day) — subscribers + views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Conformed dims = the join glue: dim_geo (Nielsen DMA — the only geography TM venues and Trends share; venue-&gt;DMA ~99.5%), dim_date, dim_artist, dim_venue, dim_event, bridge_event_artist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Why a constellation: each fact keeps its NATIVE grain instead of flattening prematurely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C4D8"/>
                </a:solidFill>
                <a:latin typeface="Arial"/>
              </a:rPr>
              <a:t>TRANSFORMATION DEMO · ~50S · 15 PTS (THE REQUIRED LIVE TRANSFORM)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Run the gold join live — three feeds become one 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Run: dbt build -m fact_event_demand   (transforms execute IN the warehouse — ELT)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Then bq query the hero show -&gt; show TM price + joined local_interest + yt_subscribers appear in ONE wide row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Say it while it runs: 'spine = every observed event-day; we LEFT-join local search interest + global YouTube reach onto it — no event-day is ever dropped'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No-row-drop invariant is GX-tested (tests/assert_gold_rows_eq_spine.sql)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C4D8"/>
                </a:solidFill>
                <a:latin typeface="Arial"/>
              </a:rPr>
              <a:t>GOLD · ~60S · 15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The star + the forecast — what the app 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fact_event_demand — one wide model-ready row per event per snapshot (609K rows / 9,657 events)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Spine kept whole (no-row-drop, GX-tested); Trends + YouTube LEFT-joined on headliner + DMA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forecast_event_price — demand/price model precomputed into gold (494,961 rows)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Deterministic, seeded HistGradientBoostingRegressor; pooled cross-sectional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Honest design given ~2 weeks of history — pool across shows, not per-show ARIMA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So what: three messy feeds -&gt; one table a model AND a UI can both consume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C4D8"/>
                </a:solidFill>
                <a:latin typeface="Arial"/>
              </a:rPr>
              <a:t>DATA QUALITY · ~20S · 15 PTS (OPTIONAL)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Great Expectations gates between every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15 checkpoints across bronze -&gt; silver -&gt; gold -&gt; forecast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Gold-refresh job FAILS FAST if the spine is dropped or row counts go wrong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Quality is enforced in code, not eyeballed — strengthens 'transformations by business logic'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C4D8"/>
                </a:solidFill>
                <a:latin typeface="Arial"/>
              </a:rPr>
              <a:t>END PRODUCT · ~90S · 10 PTS · THE CONSUMABLE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One screen a non-technical buyer reads and acts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Open the app -&gt; pick a hero show from the dropdown (populated from fact_event_demand)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Price history + forecast line (fact_event_demand + forecast_event_price)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Local interest by metro / over time (fact_trends_daily)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Artist YouTube reach (fact_youtube)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Takeaway: 'Popular here? Small room? Price trending up as the show nears? -&gt; act now or wait'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Closes the loop back to the opening thesis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C4D8"/>
                </a:solidFill>
                <a:latin typeface="Arial"/>
              </a:rPr>
              <a:t>TECH STACK · 1–2 MIN · 10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Each tool earns its place (expect a follow-up probe)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GCS — cheap durable raw landing  |  BigQuery — serverless warehouse for silver/gold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dbt-bigquery (ELT) — transforms run IN the warehouse; one place for DDL, incremental materialization, tests, lineage.  Alt: in-memory pandas joins (don't scale)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Cloud Run + Cloud Scheduler — scale-to-zero scheduled compute.  Alt: Airflow (deferred; bonus)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Great Expectations — declarative DQ gates.  Alt: hand-rolled asserts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scikit-learn HistGradientBoostingRegressor — deterministic; handles categoricals; fits pooled design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FastAPI + React/Vite — live API over gold + UI  |  Terraform — reproducible GCP IaC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GitHub Actions CI — ruff + pytest + terraform validate + GX smoke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C4D8"/>
                </a:solidFill>
                <a:latin typeface="Arial"/>
              </a:rPr>
              <a:t>BUDGET &amp; COST · 1–2 MIN · 5 PTS · CONFIRM WITH REAL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~$5–20 / month at current volume (stated assumptions)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GCS storage ~7.5 GB (TM dominates) @ ~$0.02/GB-mo -&gt; &lt;$1/mo; grows with 6×/day TM captures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BigQuery storage ~1–2 GB -&gt; &lt;$1/mo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BigQuery query $6.25/TB on-demand; partition + cluster keep scans tiny -&gt; single-digit $/mo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Cloud Run + Scheduler — scale-to-zero -&gt; ~free-tier to a few $/mo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Secret Manager / monitoring -&gt; negligible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ROUGH TOTAL ~$5–20/mo (~$60–240/yr); dominated by storage growth + query frequency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Every number is an assumption — replace with GCP billing-console actuals before the talk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FC4D8"/>
                </a:solidFill>
                <a:latin typeface="Arial"/>
              </a:rPr>
              <a:t>CLOSE · BONUS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Built, working — and we shipped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441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Recap in one line: three live feeds -&gt; medallion pipeline -&gt; one model-ready table -&gt; a consumable app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Next: wire the daily Trends trajectory into gold; deploy hardening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62B"/>
                </a:solidFill>
                <a:latin typeface="Arial"/>
              </a:rPr>
              <a:t>•  BONUS: we built real orchestration — a Cloud Run gold-refresh job chaining silver -&gt; dbt build -&gt; forecast -&gt; GX gate, daily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6B"/>
                </a:solidFill>
                <a:latin typeface="Arial"/>
              </a:rPr>
              <a:t>      –  Per the assignment, orchestration already built can count toward bonus — let's talk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